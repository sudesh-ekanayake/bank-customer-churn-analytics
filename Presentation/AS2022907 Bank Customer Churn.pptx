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0" r:id="rId3"/>
    <p:sldId id="271" r:id="rId4"/>
    <p:sldId id="272" r:id="rId5"/>
    <p:sldId id="258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78" d="100"/>
          <a:sy n="78" d="100"/>
        </p:scale>
        <p:origin x="878" y="211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sh ekanayake" userId="f4dce0e9438b7c8f" providerId="LiveId" clId="{85ED603C-6C5C-4A8E-B552-6CD33403C1A7}"/>
    <pc:docChg chg="custSel modSld">
      <pc:chgData name="sudesh ekanayake" userId="f4dce0e9438b7c8f" providerId="LiveId" clId="{85ED603C-6C5C-4A8E-B552-6CD33403C1A7}" dt="2026-04-21T05:23:30.499" v="11" actId="14100"/>
      <pc:docMkLst>
        <pc:docMk/>
      </pc:docMkLst>
      <pc:sldChg chg="delSp mod">
        <pc:chgData name="sudesh ekanayake" userId="f4dce0e9438b7c8f" providerId="LiveId" clId="{85ED603C-6C5C-4A8E-B552-6CD33403C1A7}" dt="2026-04-21T01:54:10.381" v="0" actId="478"/>
        <pc:sldMkLst>
          <pc:docMk/>
          <pc:sldMk cId="344080127" sldId="256"/>
        </pc:sldMkLst>
        <pc:spChg chg="del">
          <ac:chgData name="sudesh ekanayake" userId="f4dce0e9438b7c8f" providerId="LiveId" clId="{85ED603C-6C5C-4A8E-B552-6CD33403C1A7}" dt="2026-04-21T01:54:10.381" v="0" actId="478"/>
          <ac:spMkLst>
            <pc:docMk/>
            <pc:sldMk cId="344080127" sldId="256"/>
            <ac:spMk id="7" creationId="{E07D7CB0-10FD-464A-A19E-1BB508E9E54C}"/>
          </ac:spMkLst>
        </pc:spChg>
      </pc:sldChg>
      <pc:sldChg chg="addSp modSp mod">
        <pc:chgData name="sudesh ekanayake" userId="f4dce0e9438b7c8f" providerId="LiveId" clId="{85ED603C-6C5C-4A8E-B552-6CD33403C1A7}" dt="2026-04-21T05:23:30.499" v="11" actId="14100"/>
        <pc:sldMkLst>
          <pc:docMk/>
          <pc:sldMk cId="2258644367" sldId="286"/>
        </pc:sldMkLst>
        <pc:spChg chg="add mod">
          <ac:chgData name="sudesh ekanayake" userId="f4dce0e9438b7c8f" providerId="LiveId" clId="{85ED603C-6C5C-4A8E-B552-6CD33403C1A7}" dt="2026-04-21T05:23:05.439" v="7" actId="12"/>
          <ac:spMkLst>
            <pc:docMk/>
            <pc:sldMk cId="2258644367" sldId="286"/>
            <ac:spMk id="3" creationId="{281D070C-D4FB-4ED6-8D5D-3E235EE26584}"/>
          </ac:spMkLst>
        </pc:spChg>
        <pc:picChg chg="mod">
          <ac:chgData name="sudesh ekanayake" userId="f4dce0e9438b7c8f" providerId="LiveId" clId="{85ED603C-6C5C-4A8E-B552-6CD33403C1A7}" dt="2026-04-21T05:23:30.499" v="11" actId="14100"/>
          <ac:picMkLst>
            <pc:docMk/>
            <pc:sldMk cId="2258644367" sldId="286"/>
            <ac:picMk id="11" creationId="{4791BBD7-3E62-4160-9F68-C66C6F8D96A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403315456013518E-2"/>
          <c:y val="0.13845984251968504"/>
          <c:w val="0.84289003231537474"/>
          <c:h val="0.452761154855643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B1-4B06-8B0D-C66FC849C0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B1-4B06-8B0D-C66FC849C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1346592"/>
        <c:axId val="61135012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8B1-4B06-8B0D-C66FC849C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1346592"/>
        <c:axId val="611350120"/>
      </c:lineChart>
      <c:catAx>
        <c:axId val="61134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350120"/>
        <c:crosses val="autoZero"/>
        <c:auto val="1"/>
        <c:lblAlgn val="ctr"/>
        <c:lblOffset val="100"/>
        <c:noMultiLvlLbl val="0"/>
      </c:catAx>
      <c:valAx>
        <c:axId val="611350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346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CEC3D-96F7-401F-9673-3EE7F75C9C5B}" type="datetimeFigureOut">
              <a:rPr lang="en-US"/>
              <a:t>4/21/2026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ED8CD-4E4C-49AC-BDC6-2963BA49E54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2BCF4-D26D-4DAF-9F57-FE1E61FE7935}" type="datetimeFigureOut">
              <a:rPr lang="en-US"/>
              <a:t>4/21/2026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91549-43BF-425A-AF25-7526201920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oking up to clouds and blue sky surrounded by glass-walled building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4/21/2026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anchor="b">
            <a:normAutofit/>
          </a:bodyPr>
          <a:lstStyle>
            <a:lvl1pPr algn="l"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4/21/2026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4/21/2026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81C93FC7-9D1A-468B-98DB-D1E8D74418D9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A3F31473-23EB-4724-8B59-FE6D21D89F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80744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479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113" y="457200"/>
            <a:ext cx="4648200" cy="274320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Bank Customer Churn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Analysis, Segmentation and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Retention Strategy using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Data Mining Techniques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45A16-3DFD-47EA-8379-8021F65A278F}"/>
              </a:ext>
            </a:extLst>
          </p:cNvPr>
          <p:cNvSpPr txBox="1"/>
          <p:nvPr/>
        </p:nvSpPr>
        <p:spPr>
          <a:xfrm>
            <a:off x="265113" y="3276600"/>
            <a:ext cx="4305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AS2022907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E.M.S.J.Ekanayake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ICT 333 1.5 – Data Mining &amp; Data Warehousing</a:t>
            </a:r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B17F39-4FCA-4A80-94D8-4CBF243BC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072" y="490476"/>
            <a:ext cx="3124541" cy="3124541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03212" y="228600"/>
            <a:ext cx="10971372" cy="10668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760412" y="1295400"/>
            <a:ext cx="10363200" cy="46481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Customer churn is a major challenge in the banking sector.</a:t>
            </a:r>
          </a:p>
          <a:p>
            <a:r>
              <a:rPr lang="en-US" dirty="0"/>
              <a:t>Losing existing customers reduces revenue and long-term profitability.</a:t>
            </a:r>
          </a:p>
          <a:p>
            <a:r>
              <a:rPr lang="en-US" dirty="0"/>
              <a:t>Retaining existing customers is more cost-effective than acquiring new ones.</a:t>
            </a:r>
          </a:p>
          <a:p>
            <a:r>
              <a:rPr lang="en-US" dirty="0"/>
              <a:t>Data mining techniques can help identify churn patterns and risky customers.</a:t>
            </a:r>
          </a:p>
          <a:p>
            <a:r>
              <a:rPr lang="en-US" dirty="0"/>
              <a:t>This project focuses on churn prediction, customer segmentation, and retention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2" y="228600"/>
            <a:ext cx="10971372" cy="1066800"/>
          </a:xfrm>
        </p:spPr>
        <p:txBody>
          <a:bodyPr/>
          <a:lstStyle/>
          <a:p>
            <a:r>
              <a:rPr lang="en-US" dirty="0"/>
              <a:t>Problem Statement &amp; Objectives</a:t>
            </a:r>
          </a:p>
        </p:txBody>
      </p:sp>
      <p:graphicFrame>
        <p:nvGraphicFramePr>
          <p:cNvPr id="7" name="Content Placeholder 6" descr="Clustered column chart representing&#10;2 series and 1 line combination chart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824270"/>
              </p:ext>
            </p:extLst>
          </p:nvPr>
        </p:nvGraphicFramePr>
        <p:xfrm>
          <a:off x="8542891" y="990600"/>
          <a:ext cx="2956807" cy="193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1A2F67-C952-46BE-81B6-3E83930C55A8}"/>
              </a:ext>
            </a:extLst>
          </p:cNvPr>
          <p:cNvSpPr txBox="1"/>
          <p:nvPr/>
        </p:nvSpPr>
        <p:spPr>
          <a:xfrm>
            <a:off x="409199" y="1575427"/>
            <a:ext cx="278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098D2-37C6-4C85-8D29-564499A3955F}"/>
              </a:ext>
            </a:extLst>
          </p:cNvPr>
          <p:cNvSpPr txBox="1"/>
          <p:nvPr/>
        </p:nvSpPr>
        <p:spPr>
          <a:xfrm>
            <a:off x="1099336" y="2086178"/>
            <a:ext cx="7633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is difficult to identify at-risk customers manually.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Customer behavior depends on many factors such as inactivity, transactions, and credit usage.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853DC-50B3-4EE4-B6A3-3D848025CAC5}"/>
              </a:ext>
            </a:extLst>
          </p:cNvPr>
          <p:cNvSpPr txBox="1"/>
          <p:nvPr/>
        </p:nvSpPr>
        <p:spPr>
          <a:xfrm>
            <a:off x="409199" y="3286507"/>
            <a:ext cx="278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87C0C-36F9-4FC8-B6CB-C3BA7E83ABDD}"/>
              </a:ext>
            </a:extLst>
          </p:cNvPr>
          <p:cNvSpPr txBox="1"/>
          <p:nvPr/>
        </p:nvSpPr>
        <p:spPr>
          <a:xfrm>
            <a:off x="1127820" y="3741091"/>
            <a:ext cx="76335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Analyze customer churn behavior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Apply four analytics discussed in the lecture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Build and evaluate ML models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Segment customers using clustering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Suggest retention strategies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Present insights through a Power BI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71877E-5099-49A3-A0B3-296FCFEBB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891" y="3369502"/>
            <a:ext cx="3236735" cy="32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6694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554" y="-22324"/>
            <a:ext cx="10971372" cy="1066800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6612" y="1761479"/>
            <a:ext cx="5791201" cy="4038600"/>
          </a:xfrm>
        </p:spPr>
        <p:txBody>
          <a:bodyPr>
            <a:normAutofit/>
          </a:bodyPr>
          <a:lstStyle/>
          <a:p>
            <a:r>
              <a:rPr lang="en-US" sz="1800" dirty="0"/>
              <a:t>Dataset: Credit Card Customers Dataset</a:t>
            </a:r>
          </a:p>
          <a:p>
            <a:r>
              <a:rPr lang="en-US" sz="1800" dirty="0"/>
              <a:t>Total Records: </a:t>
            </a:r>
            <a:r>
              <a:rPr lang="en-US" sz="1800" b="1" dirty="0"/>
              <a:t>10,127</a:t>
            </a:r>
          </a:p>
          <a:p>
            <a:r>
              <a:rPr lang="en-US" sz="1800" dirty="0"/>
              <a:t>Total Columns: </a:t>
            </a:r>
            <a:r>
              <a:rPr lang="en-US" sz="1800" b="1" dirty="0"/>
              <a:t>21</a:t>
            </a:r>
          </a:p>
          <a:p>
            <a:r>
              <a:rPr lang="en-US" sz="1800" dirty="0"/>
              <a:t>Target Variable: </a:t>
            </a:r>
            <a:r>
              <a:rPr lang="en-US" sz="1800" b="1" dirty="0" err="1"/>
              <a:t>Attrition_Flag</a:t>
            </a:r>
            <a:endParaRPr lang="en-US" sz="1800" b="1" dirty="0"/>
          </a:p>
          <a:p>
            <a:r>
              <a:rPr lang="en-US" sz="1800" dirty="0"/>
              <a:t>Key attributes: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dirty="0"/>
              <a:t>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B0F43-8AFE-4938-AD0B-C7309ADC4B45}"/>
              </a:ext>
            </a:extLst>
          </p:cNvPr>
          <p:cNvSpPr txBox="1"/>
          <p:nvPr/>
        </p:nvSpPr>
        <p:spPr>
          <a:xfrm>
            <a:off x="328518" y="1174394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3CFAA-81BF-443B-9322-5EEDA97B6872}"/>
              </a:ext>
            </a:extLst>
          </p:cNvPr>
          <p:cNvSpPr txBox="1"/>
          <p:nvPr/>
        </p:nvSpPr>
        <p:spPr>
          <a:xfrm>
            <a:off x="2322512" y="4038600"/>
            <a:ext cx="3009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Customer_Age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Gender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Income_Category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Card_Category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Months_Inactive_12_mon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Total_Trans_Amt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Total_Trans_Ct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/>
              <a:t>Credit_Limit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3A6CA7-1379-4A0F-8C24-6C37EF16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12" y="3348216"/>
            <a:ext cx="6246813" cy="259685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CBC507F-CF9C-4F46-B34E-CCB7EFC1E0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612" y="605788"/>
            <a:ext cx="2552699" cy="2552699"/>
          </a:xfrm>
        </p:spPr>
      </p:pic>
    </p:spTree>
    <p:extLst>
      <p:ext uri="{BB962C8B-B14F-4D97-AF65-F5344CB8AC3E}">
        <p14:creationId xmlns:p14="http://schemas.microsoft.com/office/powerpoint/2010/main" val="981825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912812" y="1752600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Removed unnecessary columns such as CLIENTNUM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Removed Naive Bayes output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Checked missing values and duplicates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Encoded categorical variables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Prepared data for machine learning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Performed train-test split for model evaluation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E90BF0-1AE5-46DE-8B66-F6901BC55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307" y="3913790"/>
            <a:ext cx="6858000" cy="26880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FC81AC-B9A0-497C-99D3-2D487A5B0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599" y="190924"/>
            <a:ext cx="3738963" cy="373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Four Analytics Applied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857436" y="2209800"/>
            <a:ext cx="77739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Descriptive Analytics</a:t>
            </a:r>
            <a:r>
              <a:rPr lang="en-US" dirty="0"/>
              <a:t> – understand customer distribution and churn patterns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Classification Analysis</a:t>
            </a:r>
            <a:r>
              <a:rPr lang="en-US" dirty="0"/>
              <a:t> – predict customer attrition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Clustering Analysis</a:t>
            </a:r>
            <a:r>
              <a:rPr lang="en-US" dirty="0"/>
              <a:t> – group customers into segments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Association and Outlier Analysis</a:t>
            </a:r>
            <a:r>
              <a:rPr lang="en-US" dirty="0"/>
              <a:t> – identify category-based patterns</a:t>
            </a:r>
          </a:p>
          <a:p>
            <a:r>
              <a:rPr lang="en-US" dirty="0"/>
              <a:t>      and unusual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CA7C6-5D40-4178-8609-49904BF57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412" y="3056965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Descriptive Analytics / EDA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912812" y="1752600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Attrited</a:t>
            </a:r>
            <a:r>
              <a:rPr lang="en-US" dirty="0"/>
              <a:t> customers are fewer than existing customers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Dataset is imbalanced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Most customers fall within the middle-age range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Initial visualizations help understand customer behavior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6F1B2-F4E5-410E-B6CE-3D5C29E11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2" y="3382328"/>
            <a:ext cx="4609715" cy="3299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D0D9B6-BE3E-4625-B72F-4B7005E79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12" y="3346470"/>
            <a:ext cx="4609715" cy="3299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7E4301-39DF-43EF-A794-990B38946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212" y="161741"/>
            <a:ext cx="2948634" cy="29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5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Correlation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16719" y="1976718"/>
            <a:ext cx="65920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Correlation heatmap was used to examine numerical relationships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Total_Trans_Amt</a:t>
            </a:r>
            <a:r>
              <a:rPr lang="en-US" dirty="0"/>
              <a:t> and </a:t>
            </a:r>
            <a:r>
              <a:rPr lang="en-US" b="1" dirty="0"/>
              <a:t>Total_trans_Ct </a:t>
            </a:r>
            <a:r>
              <a:rPr lang="en-US" dirty="0"/>
              <a:t>show a strong positive relationship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Credit-related variables also show meaningful patterns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Heatmap helps identify churn-related features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6595EB-3FBC-466D-BC6B-8AB2DF897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812" y="1219200"/>
            <a:ext cx="535458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8027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Classification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16719" y="1976718"/>
            <a:ext cx="65920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Three ML models were developed:</a:t>
            </a:r>
          </a:p>
          <a:p>
            <a:r>
              <a:rPr lang="en-US" dirty="0"/>
              <a:t>                          1.  Logistic Regression</a:t>
            </a:r>
          </a:p>
          <a:p>
            <a:r>
              <a:rPr lang="en-US" dirty="0"/>
              <a:t>                          2. Decision Tree</a:t>
            </a:r>
          </a:p>
          <a:p>
            <a:r>
              <a:rPr lang="en-US" dirty="0"/>
              <a:t>                          3. Random Forest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Target </a:t>
            </a:r>
            <a:r>
              <a:rPr lang="en-US" dirty="0" err="1"/>
              <a:t>veriable</a:t>
            </a:r>
            <a:r>
              <a:rPr lang="en-US" dirty="0"/>
              <a:t>: Attrition _Flag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Evaluation metrics used:</a:t>
            </a:r>
          </a:p>
          <a:p>
            <a:r>
              <a:rPr lang="en-US" dirty="0"/>
              <a:t>                           1. Accuracy</a:t>
            </a:r>
          </a:p>
          <a:p>
            <a:r>
              <a:rPr lang="en-US" dirty="0"/>
              <a:t>                           2. Precision</a:t>
            </a:r>
          </a:p>
          <a:p>
            <a:r>
              <a:rPr lang="en-US" dirty="0"/>
              <a:t>                           3. Recall</a:t>
            </a:r>
          </a:p>
          <a:p>
            <a:r>
              <a:rPr lang="en-US" dirty="0"/>
              <a:t>                           4. F1-score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1348C-96CF-48C1-B164-A27849C06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12" y="1452282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1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319555" y="2057400"/>
            <a:ext cx="53176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Random Forest showed the best overall performance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Decision Tree also performed strongly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Logistic Regression produced acceptable but lower scores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Random Forest was selected as the final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73D860-7B1B-413C-B35B-AB449AF1B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612" y="853888"/>
            <a:ext cx="6206953" cy="434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7F3079-196E-4F68-805B-558FBD03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612" y="5562600"/>
            <a:ext cx="6106377" cy="11145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5A168D-9941-4ECE-9FDE-A3DF07C174F0}"/>
              </a:ext>
            </a:extLst>
          </p:cNvPr>
          <p:cNvSpPr txBox="1"/>
          <p:nvPr/>
        </p:nvSpPr>
        <p:spPr>
          <a:xfrm flipH="1">
            <a:off x="524742" y="5408298"/>
            <a:ext cx="4907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Random Forest achieved the best balance of accuracy, precision, recall, and F1-score.</a:t>
            </a:r>
          </a:p>
        </p:txBody>
      </p:sp>
    </p:spTree>
    <p:extLst>
      <p:ext uri="{BB962C8B-B14F-4D97-AF65-F5344CB8AC3E}">
        <p14:creationId xmlns:p14="http://schemas.microsoft.com/office/powerpoint/2010/main" val="155581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/>
          <a:lstStyle/>
          <a:p>
            <a:r>
              <a:rPr lang="en-US" dirty="0"/>
              <a:t>Random Forest 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16719" y="1976718"/>
            <a:ext cx="65920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Random Forest achieved strong predictive performance: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model classified churned and existing customers effectively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Confusion matrix confirmes reliable classification </a:t>
            </a:r>
            <a:r>
              <a:rPr lang="fr-FR" dirty="0" err="1"/>
              <a:t>resuIlts</a:t>
            </a:r>
            <a:endParaRPr lang="fr-FR" dirty="0"/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Suitable as the final churn prediction model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7488C-4E42-4E53-B9E2-AE18CBCBD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99" y="1828800"/>
            <a:ext cx="5029200" cy="416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3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2" y="304800"/>
            <a:ext cx="10210799" cy="1143000"/>
          </a:xfrm>
        </p:spPr>
        <p:txBody>
          <a:bodyPr>
            <a:normAutofit/>
          </a:bodyPr>
          <a:lstStyle/>
          <a:p>
            <a:r>
              <a:rPr lang="en-US" dirty="0"/>
              <a:t>Customer Segmentation using K-Means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16720" y="1976718"/>
            <a:ext cx="52204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K-Means clustering was applied for customer segmentation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Three customer groups were identified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Example segments</a:t>
            </a:r>
          </a:p>
          <a:p>
            <a:r>
              <a:rPr lang="en-US" dirty="0"/>
              <a:t>                                           1. Standard Users</a:t>
            </a:r>
          </a:p>
          <a:p>
            <a:r>
              <a:rPr lang="en-US" dirty="0"/>
              <a:t>                                           2. High-Value Users</a:t>
            </a:r>
          </a:p>
          <a:p>
            <a:r>
              <a:rPr lang="en-US" dirty="0"/>
              <a:t>                                           3. At-Risk / Younger Users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Segmentation supports targeted retention strategy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A4B08A-4E35-4199-8C1A-5920BA7D4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094" y="1775012"/>
            <a:ext cx="6228241" cy="477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8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Association and Outlier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55612" y="1568824"/>
            <a:ext cx="65920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Card category and churn relationship were analyzed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Different customer groups show different churn tendencies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Outlier analysis was applied to  </a:t>
            </a:r>
            <a:r>
              <a:rPr lang="en-US" b="1" dirty="0"/>
              <a:t>Total_ </a:t>
            </a:r>
            <a:r>
              <a:rPr lang="en-US" b="1" dirty="0" err="1"/>
              <a:t>Trans_Amt</a:t>
            </a:r>
            <a:r>
              <a:rPr lang="en-US" b="1" dirty="0"/>
              <a:t> </a:t>
            </a:r>
            <a:endParaRPr lang="fr-F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Unusual values may indicate abnormal or changing customer behavior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14380-7984-4E9B-A15A-DE87C8392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31" y="3264401"/>
            <a:ext cx="5729330" cy="3485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132E25-08BC-4B76-8295-3F77CD55E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501" y="3264401"/>
            <a:ext cx="5711593" cy="34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3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2" y="-38100"/>
            <a:ext cx="8001000" cy="1143000"/>
          </a:xfrm>
        </p:spPr>
        <p:txBody>
          <a:bodyPr>
            <a:normAutofit/>
          </a:bodyPr>
          <a:lstStyle/>
          <a:p>
            <a:r>
              <a:rPr lang="en-US" dirty="0"/>
              <a:t>Dashboard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1049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66BF9-D6FC-40A1-A321-75FA7A32D449}"/>
              </a:ext>
            </a:extLst>
          </p:cNvPr>
          <p:cNvSpPr txBox="1"/>
          <p:nvPr/>
        </p:nvSpPr>
        <p:spPr>
          <a:xfrm>
            <a:off x="447719" y="1219200"/>
            <a:ext cx="65920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 Power BI dashboard was developed for interactive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Dashboard pages include:</a:t>
            </a:r>
          </a:p>
          <a:p>
            <a:r>
              <a:rPr lang="en-US" dirty="0"/>
              <a:t>                          1. Executive Summary</a:t>
            </a:r>
          </a:p>
          <a:p>
            <a:r>
              <a:rPr lang="en-US" dirty="0"/>
              <a:t>                          2. Customer Behavior &amp; Transaction Analysis</a:t>
            </a:r>
          </a:p>
          <a:p>
            <a:r>
              <a:rPr lang="en-US" dirty="0"/>
              <a:t>                          3. Churn Risk Analytics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Dashboard supports data-driven managerial decisions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C4C6E-1FCA-4C1D-93F0-23EA57C2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2" y="200785"/>
            <a:ext cx="4038600" cy="2999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EEC01E-D730-406E-9D34-E7AD91B67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3480547"/>
            <a:ext cx="4267200" cy="3185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353B70-6373-4DD3-BB06-94E84973E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812" y="3480547"/>
            <a:ext cx="4038600" cy="318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1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55612" y="1828800"/>
            <a:ext cx="65920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 Random Forest as an early warning system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Focus on low-activity customers with proactive retention actions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Offer targeted incentives to high-value customer segments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Improve digital engagement for inactive users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Promote multi-product enrollment to increase loyalty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 dashboard insights for continuous monitoring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8EB2A7-D191-4BCF-AB2B-46B9F7FF1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012" y="1381541"/>
            <a:ext cx="4094917" cy="409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3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3" y="304800"/>
            <a:ext cx="8001000" cy="114300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2" y="1600200"/>
            <a:ext cx="8231187" cy="762000"/>
          </a:xfrm>
        </p:spPr>
        <p:txBody>
          <a:bodyPr>
            <a:normAutofit/>
          </a:bodyPr>
          <a:lstStyle/>
          <a:p>
            <a:r>
              <a:rPr lang="en-US" b="1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888F0-CA4C-4504-873D-ABF38B993F25}"/>
              </a:ext>
            </a:extLst>
          </p:cNvPr>
          <p:cNvSpPr txBox="1"/>
          <p:nvPr/>
        </p:nvSpPr>
        <p:spPr>
          <a:xfrm>
            <a:off x="455612" y="1828800"/>
            <a:ext cx="6781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project successfully analyzed customer churn in the banking sector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Four analytics techniques were applied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Multiple ML models were built and compared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Random Forest was identified as the best model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K-Means clustering helped identify meaningful customer segments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dashboard provided actionable business insights for retention strategy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3F7238-63F6-465E-A92F-E85EAD68A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546" y="1166842"/>
            <a:ext cx="4524315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1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791BBD7-3E62-4160-9F68-C66C6F8D9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88824" cy="68850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1D070C-D4FB-4ED6-8D5D-3E235EE26584}"/>
              </a:ext>
            </a:extLst>
          </p:cNvPr>
          <p:cNvSpPr txBox="1"/>
          <p:nvPr/>
        </p:nvSpPr>
        <p:spPr>
          <a:xfrm>
            <a:off x="760412" y="5410200"/>
            <a:ext cx="430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AS2022907</a:t>
            </a:r>
          </a:p>
          <a:p>
            <a:r>
              <a:rPr lang="en-US" dirty="0">
                <a:latin typeface="Arial Narrow" panose="020B0606020202030204" pitchFamily="34" charset="0"/>
              </a:rPr>
              <a:t>E.M.S.J.Ekanayake</a:t>
            </a:r>
          </a:p>
          <a:p>
            <a:r>
              <a:rPr lang="en-US" dirty="0">
                <a:latin typeface="Arial Narrow" panose="020B0606020202030204" pitchFamily="34" charset="0"/>
              </a:rPr>
              <a:t>ICT 333 1.5 – Data Mining &amp; Data Warehousing</a:t>
            </a:r>
          </a:p>
        </p:txBody>
      </p:sp>
    </p:spTree>
    <p:extLst>
      <p:ext uri="{BB962C8B-B14F-4D97-AF65-F5344CB8AC3E}">
        <p14:creationId xmlns:p14="http://schemas.microsoft.com/office/powerpoint/2010/main" val="225864436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marketing glass cube presentation (widescreen).potx" id="{454792B9-F7C6-4CDD-89A0-89451A081408}" vid="{E847D748-0CA0-4BC8-838F-3216ECA80016}"/>
    </a:ext>
  </a:extLst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marketing glass cube presentation (widescreen)</Template>
  <TotalTime>327</TotalTime>
  <Words>713</Words>
  <Application>Microsoft Office PowerPoint</Application>
  <PresentationFormat>Custom</PresentationFormat>
  <Paragraphs>177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Narrow</vt:lpstr>
      <vt:lpstr>Corbel</vt:lpstr>
      <vt:lpstr>Wingdings</vt:lpstr>
      <vt:lpstr>Marketing 16x9</vt:lpstr>
      <vt:lpstr>Bank Customer Churn  Analysis, Segmentation and  Retention Strategy using  Data Mining Techniques </vt:lpstr>
      <vt:lpstr>Introduction</vt:lpstr>
      <vt:lpstr>Problem Statement &amp; Objectives</vt:lpstr>
      <vt:lpstr>Dataset Overview</vt:lpstr>
      <vt:lpstr>Data Preprocessing</vt:lpstr>
      <vt:lpstr>Four Analytics Applied</vt:lpstr>
      <vt:lpstr>Descriptive Analytics / EDA</vt:lpstr>
      <vt:lpstr>Correlation Analysis</vt:lpstr>
      <vt:lpstr>Classification Models</vt:lpstr>
      <vt:lpstr>Model Comparison</vt:lpstr>
      <vt:lpstr>Random Forest Evaluation</vt:lpstr>
      <vt:lpstr>Customer Segmentation using K-Means</vt:lpstr>
      <vt:lpstr>Association and Outlier Analysis</vt:lpstr>
      <vt:lpstr>Dashboard Overview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 Analysis, Segmentation and  Retention Strategy using  Data Mining Techniques</dc:title>
  <dc:creator>sudesh ekanayake</dc:creator>
  <cp:lastModifiedBy>sudesh ekanayake</cp:lastModifiedBy>
  <cp:revision>14</cp:revision>
  <dcterms:created xsi:type="dcterms:W3CDTF">2026-04-20T07:11:52Z</dcterms:created>
  <dcterms:modified xsi:type="dcterms:W3CDTF">2026-04-21T05:23:34Z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